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234440" cy="1234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11680" y="987552"/>
            <a:ext cx="9052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D1116"/>
                </a:solidFill>
              </a:defRPr>
            </a:pPr>
            <a:r>
              <a:t>UPS PensionsGo Comprehensive Training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256" y="182880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Full stakeholder training on functionality, workflows, governance, and core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2514600"/>
            <a:ext cx="2834640" cy="384048"/>
          </a:xfrm>
          <a:prstGeom prst="roundRect">
            <a:avLst/>
          </a:prstGeom>
          <a:solidFill>
            <a:srgbClr val="C2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Audience: All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8256" y="420624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D1116"/>
                </a:solidFill>
              </a:defRPr>
            </a:pPr>
            <a:r>
              <a:t>UPS PensionsGo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Prepared from the live repository and documentation set</a:t>
            </a:r>
          </a:p>
          <a:p>
            <a:pPr>
              <a:defRPr sz="1100">
                <a:solidFill>
                  <a:srgbClr val="676767"/>
                </a:solidFill>
              </a:defRPr>
            </a:pPr>
            <a:r>
              <a:t>Repository snapshot: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Training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Training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What this training session is designed to achieve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>
                <a:solidFill>
                  <a:srgbClr val="222222"/>
                </a:solidFill>
              </a:defRPr>
            </a:pPr>
            <a:r>
              <a:t>Explain what UPS PensionsGo covers across intake, workflow, registry, claims, payroll, messaging, pensioner service, and administration.</a:t>
            </a:r>
          </a:p>
          <a:p>
            <a:pPr>
              <a:spcAft>
                <a:spcPts val="1000"/>
              </a:spcAft>
              <a:defRPr sz="1650">
                <a:solidFill>
                  <a:srgbClr val="222222"/>
                </a:solidFill>
              </a:defRPr>
            </a:pPr>
            <a:r>
              <a:t>Show how different stakeholder groups use the platform without assuming every user sees the same pages or actions.</a:t>
            </a:r>
          </a:p>
          <a:p>
            <a:pPr>
              <a:spcAft>
                <a:spcPts val="1000"/>
              </a:spcAft>
              <a:defRPr sz="1650">
                <a:solidFill>
                  <a:srgbClr val="222222"/>
                </a:solidFill>
              </a:defRPr>
            </a:pPr>
            <a:r>
              <a:t>Walk through the end-to-end pension case lifecycle and the governance controls that protect it.</a:t>
            </a:r>
          </a:p>
          <a:p>
            <a:pPr>
              <a:spcAft>
                <a:spcPts val="1000"/>
              </a:spcAft>
              <a:defRPr sz="1650">
                <a:solidFill>
                  <a:srgbClr val="222222"/>
                </a:solidFill>
              </a:defRPr>
            </a:pPr>
            <a:r>
              <a:t>Connect platform features to real user use cases, escalation paths, and support responsibilities.</a:t>
            </a:r>
          </a:p>
          <a:p>
            <a:pPr>
              <a:spcAft>
                <a:spcPts val="1000"/>
              </a:spcAft>
              <a:defRPr sz="1650">
                <a:solidFill>
                  <a:srgbClr val="222222"/>
                </a:solidFill>
              </a:defRPr>
            </a:pPr>
            <a:r>
              <a:t>Point every audience group to the correct follow-on manuals, diagrams, and operational references.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Training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Who This Deck Serves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training is designed for both decision-makers and hands-on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Decision and Oversight Stakeholders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Project sponsors and institutional leadership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Head of Pensions and line managers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OC/Pension and Deputy OC/Pension roles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Administrators, governance, and support leads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Audit and approval-stage decision makers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and Service 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Clerks and intake teams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Writeup, file-creation, and data-entry officers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Assessors, auditors, and approvers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Payroll, finance, registry, and records staff</a:t>
            </a:r>
          </a:p>
          <a:p>
            <a:pPr>
              <a:spcAft>
                <a:spcPts val="1000"/>
              </a:spcAft>
              <a:defRPr sz="1460">
                <a:solidFill>
                  <a:srgbClr val="222222"/>
                </a:solidFill>
              </a:defRPr>
            </a:pPr>
            <a:r>
              <a:t>Pensioners, support teams, and public-information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Platform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Current Platform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training deck is based on the live repository and current documentation 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HTML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Operational, admin, pensioner, and public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PHP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Endpoint-style service layer for platform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DB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Maintained schema baseline for live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54312" y="182880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2011680"/>
            <a:ext cx="23774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D1116"/>
                </a:solidFill>
              </a:defRPr>
            </a:pPr>
            <a: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2606040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22222"/>
                </a:solidFill>
              </a:defRPr>
            </a:pPr>
            <a:r>
              <a:t>Role manuals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999232"/>
            <a:ext cx="2377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76767"/>
                </a:solidFill>
              </a:defRPr>
            </a:pPr>
            <a:r>
              <a:t>Role-specific Word/PDF manuals already generated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The documentation pack also includes 3 maintained DFD diagrams, a full ERD reference, and current system and user manuals.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Training should stay role-aware because visibility in the UI is narrower than total system capability.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Platform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Capability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app is broader than a single registry or claims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Operational Domains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Staff-due intake and application handling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Workflow, tasks, delegation, and status control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Pension file registry and document management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File movement and life-certificate compliance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Claims, arrears, and accountability handling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Service and Control Domains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Payroll uploads, suspensions, and gratuity schedules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Budgeting, reports, and exports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Messages, broadcasts, and notifications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Feedback, FAQ, Terms, and podcast content</a:t>
            </a:r>
          </a:p>
          <a:p>
            <a:pPr>
              <a:spcAft>
                <a:spcPts val="1000"/>
              </a:spcAft>
              <a:defRPr sz="1440">
                <a:solidFill>
                  <a:srgbClr val="222222"/>
                </a:solidFill>
              </a:defRPr>
            </a:pPr>
            <a:r>
              <a:t>Pensioner self-service and administration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Roles and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Role Model and Access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same system serves many roles, but not every role sees the same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Workflow and Line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Clerk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Writeup Officer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File Creator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Data Entrant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Assessor, Auditor, and Approver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Supervision and Service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Administrator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OC/Pension and Deputy OC/Pension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General internal User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Pensioner</a:t>
            </a:r>
          </a:p>
          <a:p>
            <a:pPr>
              <a:spcAft>
                <a:spcPts val="1000"/>
              </a:spcAft>
              <a:defRPr sz="1480">
                <a:solidFill>
                  <a:srgbClr val="222222"/>
                </a:solidFill>
              </a:defRPr>
            </a:pPr>
            <a:r>
              <a:t>Public guidance and support users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Core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End-to-End Pension Case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application is designed around this operating sequence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Staff due and intake records are created and verified</a:t>
            </a:r>
          </a:p>
        </p:txBody>
      </p:sp>
      <p:sp>
        <p:nvSpPr>
          <p:cNvPr id="14" name="Chevron 13"/>
          <p:cNvSpPr/>
          <p:nvPr/>
        </p:nvSpPr>
        <p:spPr>
          <a:xfrm>
            <a:off x="2743200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80360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5032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Tasks, comments, alerts, and workflow actions move the case</a:t>
            </a:r>
          </a:p>
        </p:txBody>
      </p:sp>
      <p:sp>
        <p:nvSpPr>
          <p:cNvPr id="19" name="Chevron 18"/>
          <p:cNvSpPr/>
          <p:nvPr/>
        </p:nvSpPr>
        <p:spPr>
          <a:xfrm>
            <a:off x="5056632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93792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98464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Registry, documents, and file custody become authoritative</a:t>
            </a:r>
          </a:p>
        </p:txBody>
      </p:sp>
      <p:sp>
        <p:nvSpPr>
          <p:cNvPr id="24" name="Chevron 23"/>
          <p:cNvSpPr/>
          <p:nvPr/>
        </p:nvSpPr>
        <p:spPr>
          <a:xfrm>
            <a:off x="7370064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07224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11896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Reconcile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1816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Claims, payroll, suspensions, and accountability are checked</a:t>
            </a:r>
          </a:p>
        </p:txBody>
      </p:sp>
      <p:sp>
        <p:nvSpPr>
          <p:cNvPr id="29" name="Chevron 28"/>
          <p:cNvSpPr/>
          <p:nvPr/>
        </p:nvSpPr>
        <p:spPr>
          <a:xfrm>
            <a:off x="9683496" y="2788920"/>
            <a:ext cx="228600" cy="365760"/>
          </a:xfrm>
          <a:prstGeom prst="chevron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0656" y="2148840"/>
            <a:ext cx="2148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25328" y="1901952"/>
            <a:ext cx="502920" cy="502920"/>
          </a:xfrm>
          <a:prstGeom prst="ellipse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560320"/>
            <a:ext cx="1874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D1116"/>
                </a:solidFill>
              </a:defRPr>
            </a:pPr>
            <a:r>
              <a:t>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999232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222"/>
                </a:solidFill>
              </a:defRPr>
            </a:pPr>
            <a:r>
              <a:t>Decision, support, pensioner service, and governance continue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720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Each stage has distinct owners, but the audit trail and source data must remain connected from end to end.</a:t>
            </a:r>
          </a:p>
          <a:p>
            <a:pPr>
              <a:spcAft>
                <a:spcPts val="1000"/>
              </a:spcAft>
              <a:defRPr sz="1350">
                <a:solidFill>
                  <a:srgbClr val="222222"/>
                </a:solidFill>
              </a:defRPr>
            </a:pPr>
            <a:r>
              <a:t>When a case seems stuck, identify the stage first before escalating or reworking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Core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Daily Navigation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 consistent usage pattern reduces errors and rework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Sign in with the correct account and let the platform complete session checks and role-based redirect first.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Start from the dashboard when you need the operational picture, and from the module page when you already know the task.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Search and filter before editing, exporting, printing, or escalating what you see.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Open the detail panel, modal, or edit workspace for the exact record before changing anything.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Use the governed workflow action and wait for confirmation rather than refreshing away or improvising a shortcut.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Dashboard and Operational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dashboard is the shared command surface for most internal stakeholders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60">
                <a:solidFill>
                  <a:srgbClr val="222222"/>
                </a:solidFill>
              </a:defRPr>
            </a:pPr>
            <a:r>
              <a:t>The dashboard brings together claims exposure, pensioner demographics, life-certificate compliance, payroll coverage, staff-due pipeline, file status, workflow performance, and feedback management.</a:t>
            </a:r>
          </a:p>
          <a:p>
            <a:pPr>
              <a:spcAft>
                <a:spcPts val="1000"/>
              </a:spcAft>
              <a:defRPr sz="1560">
                <a:solidFill>
                  <a:srgbClr val="222222"/>
                </a:solidFill>
              </a:defRPr>
            </a:pPr>
            <a:r>
              <a:t>Supervisors and leadership should use it to identify pressure points, then confirm those signals in the source module before deciding.</a:t>
            </a:r>
          </a:p>
          <a:p>
            <a:pPr>
              <a:spcAft>
                <a:spcPts val="1000"/>
              </a:spcAft>
              <a:defRPr sz="1560">
                <a:solidFill>
                  <a:srgbClr val="222222"/>
                </a:solidFill>
              </a:defRPr>
            </a:pPr>
            <a:r>
              <a:t>Export and reporting actions should only be used after filters and date scope are checked carefully.</a:t>
            </a:r>
          </a:p>
          <a:p>
            <a:pPr>
              <a:spcAft>
                <a:spcPts val="1000"/>
              </a:spcAft>
              <a:defRPr sz="1560">
                <a:solidFill>
                  <a:srgbClr val="222222"/>
                </a:solidFill>
              </a:defRPr>
            </a:pPr>
            <a:r>
              <a:t>Some governed management views are deliberately restricted to administrators and OC/Pension-equivalent leadership roles.</a:t>
            </a:r>
          </a:p>
          <a:p>
            <a:pPr>
              <a:spcAft>
                <a:spcPts val="1000"/>
              </a:spcAft>
              <a:defRPr sz="1560">
                <a:solidFill>
                  <a:srgbClr val="222222"/>
                </a:solidFill>
              </a:defRPr>
            </a:pPr>
            <a:r>
              <a:t>As a training rule: treat the dashboard as the control picture, not as the only source of record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Staff Due and Application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intake workspace is the foundation for later workflow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Staff Due for Retirement together with Add Staff, Edit Staff Record, and View Staff to create, review, and refine retirement-bound staff records.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Capture identity, service, retirement, and contact data carefully because later roles inherit these values.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workflow actions and status updates to move work forward instead of leaving hidden assumptions in comments.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Request deletion through the governed staff-due delete flow when a record should not continue in normal use.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Clerks, data-entry staff, and writeup roles are the main training audiences for this area, with supervision over exceptions and queues.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Tasks, Delegation, and Workflow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tasks workspace is the execution layer for routed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Use My Tasks to review assigned work, add factual comments, update status, and process completion or alert queues where permitted.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Delegation should follow role boundaries so the next user receives work that matches their responsibility and authority.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Workflow comments should explain real progress, blockers, or evidence gaps rather than becoming side-channel conversation.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Application status and task history together tell the strongest story of where a case really stands.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OC/Pension, Deputy OC/Pension, administrators, and line users all need to understand this workspace, even if they use it differently.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Pension File Registry and Document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registry is the authoritative post-intake source of pension record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Use the pension file registry to search the canonical file, review benefits snapshot data, inspect document index, and maintain approved fields where the role permits it.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Document upload and document-viewer flows keep evidence linked to the correct record instead of scattering files across informal channels.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Delete requests, recycle-bin restore, and governed purge functions protect the registry from untraceable loss.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Registry work should always begin by confirming the correct file number, pensioner identity, and current workflow context.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Registry quality matters to almost every stakeholder group because payroll, claims, pensioner service, and workflow all depend on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File Movement and Life Certificate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These two record-management areas are especially sensitive operationally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File Movement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Record every movement when custody changes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Capture destination, reason, and expected return detail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Use return actions to close the custody loop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Keep file location aligned with task and workflow state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Treat movement logs as accountability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Life 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Work against the correct year before saving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Treat Submitted, Not Submitted, and Exempt as distinct states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Verify the correct profile before updating contact fields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Use life-certificate status for compliance follow-up and support</a:t>
            </a:r>
          </a:p>
          <a:p>
            <a:pPr>
              <a:spcAft>
                <a:spcPts val="1000"/>
              </a:spcAft>
              <a:defRPr sz="1430">
                <a:solidFill>
                  <a:srgbClr val="222222"/>
                </a:solidFill>
              </a:defRPr>
            </a:pPr>
            <a:r>
              <a:t>Escalate uncertainty rather than saving a guessed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Claims, Arrears, and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claims workspace is a full operational area, not just a simple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Current functionality includes arrears-ledger review, recent payments, bulk payment upload, suspension history, gratuity schedule analysis, accountability handling, and governed exports.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Users must verify beneficiary identity, claim type, period, expected amount, paid amount, and remaining balance before posting or approving financial changes.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Strategic views such as estate-expiry and full-pension-due reporting support supervisory planning for privileged roles.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Accountability submissions and supporting files should be completed promptly where the payment context requires them.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Training for this area should separate view-only audiences from users who can actually manage arrears entries or suspension uploads.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Payroll, Suspensions, Budgeting, and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These functions connect financial evidence, reconciliation, and management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Payroll and Suspensions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Upload payroll cycles and payment-register evidence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Review matched and unmatched rows after every upload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Upload suspension records only from approved source files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Preserve review exports and exception outputs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Leave cycle replacement or deletion to admin-authorized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Budgeting and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Use budgeting to manage arrears and pension forecast views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Use reports and exports for review, audit, and management packs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Always check date, quarter, and financial-year scope first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Treat exported files as controlled operational records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Escalate unexplained financial anomalies quickly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Messages, Broadcasts, and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Collaboration is built into the platform and should remain professional and auditable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The messages module supports direct messaging, recipient control, attachments, unread tracking, and attachment viewing.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Broadcasts and queued notifications support wider communication without requiring informal parallel channels.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Message threads should be used for controlled clarifications and workflow follow-up, not casual off-record discussion.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Attachments, message content, and generated notifications should be handled as sensitive operational information.</a:t>
            </a:r>
          </a:p>
          <a:p>
            <a:pPr>
              <a:spcAft>
                <a:spcPts val="1000"/>
              </a:spcAft>
              <a:defRPr sz="1550">
                <a:solidFill>
                  <a:srgbClr val="222222"/>
                </a:solidFill>
              </a:defRPr>
            </a:pPr>
            <a:r>
              <a:t>Support and administrator teams should know how notification queues, digests, and storage snapshots affect communication reliability.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Pensioner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Pensioner Dashboard and Consent-Based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Pensioner-facing functionality is rich, but intentionally 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10">
                <a:solidFill>
                  <a:srgbClr val="222222"/>
                </a:solidFill>
              </a:defRPr>
            </a:pPr>
            <a:r>
              <a:t>The pensioner dashboard organizes information into profile, application, benefits, compliance, claims, and lifecycle or document views.</a:t>
            </a:r>
          </a:p>
          <a:p>
            <a:pPr>
              <a:spcAft>
                <a:spcPts val="1000"/>
              </a:spcAft>
              <a:defRPr sz="1510">
                <a:solidFill>
                  <a:srgbClr val="222222"/>
                </a:solidFill>
              </a:defRPr>
            </a:pPr>
            <a:r>
              <a:t>Claims, documents, and pensioner lookup can be enabled or disabled centrally, so support teams should check settings before treating them as missing features.</a:t>
            </a:r>
          </a:p>
          <a:p>
            <a:pPr>
              <a:spcAft>
                <a:spcPts val="1000"/>
              </a:spcAft>
              <a:defRPr sz="1510">
                <a:solidFill>
                  <a:srgbClr val="222222"/>
                </a:solidFill>
              </a:defRPr>
            </a:pPr>
            <a:r>
              <a:t>Profile edits are limited to approved self-service fields, and some fields become restricted in sensitive lifecycle states.</a:t>
            </a:r>
          </a:p>
          <a:p>
            <a:pPr>
              <a:spcAft>
                <a:spcPts val="1000"/>
              </a:spcAft>
              <a:defRPr sz="1510">
                <a:solidFill>
                  <a:srgbClr val="222222"/>
                </a:solidFill>
              </a:defRPr>
            </a:pPr>
            <a:r>
              <a:t>Pensioner lookup is directory-style and consent-based: only pensioners who choose visibility should appear to others.</a:t>
            </a:r>
          </a:p>
          <a:p>
            <a:pPr>
              <a:spcAft>
                <a:spcPts val="1000"/>
              </a:spcAft>
              <a:defRPr sz="1510">
                <a:solidFill>
                  <a:srgbClr val="222222"/>
                </a:solidFill>
              </a:defRPr>
            </a:pPr>
            <a:r>
              <a:t>Pensioner support training should focus on linkage checks, consent rules, and clear escalation to the pensions office for formal corrections.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Public and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Feedback, Guidance, and Public-Facing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app serves both internal operations and controlled public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Guidance and Content 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About page for product positioning and service context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FAQ page for common workflow and pension questions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Terms page for governed platform-use expectations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Podcast pages for public and internal explanatory videos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Offline and PWA support for resilience and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Feedback and Service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Feedback can be opened to public, staff, and pensioners by settings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Feedback workflow supports assignment, review, resolution, closure, and export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Dashboard analytics highlight overdue or unresolved submissions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Content managers and admins maintain FAQ, terms, and podcast entries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Support teams should use these surfaces as formal guidance channels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Settings and Administration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Administrators maintain the platform and supervise its operating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The Settings workspace includes Dashboard Overview, User Management, App Settings, Security Settings, Access Control, role governance, notifications, storage, logs, audit trail, analysis, and system health.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Administrators manage users, roles, permission overrides, content settings, notification behavior, and operational diagnostics from one governed workspace.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Data-management actions such as backup, restore, import, export, and cleanup should be treated as controlled maintenance, not convenience shortcuts.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Admin access is broad but should still respect business workflow ownership and leave a clear audit trail for exceptional interventions.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</a:defRPr>
            </a:pPr>
            <a:r>
              <a:t>Support, governance, and technical stakeholders should all understand what lives in this workspace, even when they do not operate it daily.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Security, Sessions, Roles, and Permission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platform protects data through layered controls rather than one single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Security and Session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Protected pages require a valid session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Timeouts, warnings, and concurrent-session rules are enforced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Sensitive admin actions may require re-authentication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Maintenance mode can restrict ordinary users while allowing admin access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Pensioner login can be centrally enabled or disabled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Access and Governance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Role-aware navigation and server-side permission checks work together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Role and user permission overrides refine the default access model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Delete queues and recycle-bin flows protect record integrity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Audit, user, workflow, and system logs preserve evidence trails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Data Management is restricted to higher-governance roles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Data Management, Export, Backup, Restore, and Cleanup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Every stakeholder should understand these controls, even if only some can execute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40">
                <a:solidFill>
                  <a:srgbClr val="222222"/>
                </a:solidFill>
              </a:defRPr>
            </a:pPr>
            <a:r>
              <a:t>Backup and restore tools protect recoverability, but they should only be used for approved operational reasons.</a:t>
            </a:r>
          </a:p>
          <a:p>
            <a:pPr>
              <a:spcAft>
                <a:spcPts val="1000"/>
              </a:spcAft>
              <a:defRPr sz="1540">
                <a:solidFill>
                  <a:srgbClr val="222222"/>
                </a:solidFill>
              </a:defRPr>
            </a:pPr>
            <a:r>
              <a:t>Import and export routines are governed and often produce review or evidence files that should be retained.</a:t>
            </a:r>
          </a:p>
          <a:p>
            <a:pPr>
              <a:spcAft>
                <a:spcPts val="1000"/>
              </a:spcAft>
              <a:defRPr sz="1540">
                <a:solidFill>
                  <a:srgbClr val="222222"/>
                </a:solidFill>
              </a:defRPr>
            </a:pPr>
            <a:r>
              <a:t>Cleanup tools should follow preview or dry-run discipline before any destructive action is allowed.</a:t>
            </a:r>
          </a:p>
          <a:p>
            <a:pPr>
              <a:spcAft>
                <a:spcPts val="1000"/>
              </a:spcAft>
              <a:defRPr sz="1540">
                <a:solidFill>
                  <a:srgbClr val="222222"/>
                </a:solidFill>
              </a:defRPr>
            </a:pPr>
            <a:r>
              <a:t>Storage management, retention windows, orphan-document checks, and notification queue maintenance all affect long-term operational stability.</a:t>
            </a:r>
          </a:p>
          <a:p>
            <a:pPr>
              <a:spcAft>
                <a:spcPts val="1000"/>
              </a:spcAft>
              <a:defRPr sz="1540">
                <a:solidFill>
                  <a:srgbClr val="222222"/>
                </a:solidFill>
              </a:defRPr>
            </a:pPr>
            <a:r>
              <a:t>Training should emphasize that destructive or high-impact actions must be justified, reviewed, and traceable.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Core Use Cases: Operational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These scenarios help line users understand where they fit in the bigger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Front-Line Processing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clerk captures a new staff-due record and verifies intake details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data entrant imports approved batches and updates claims or registry data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writeup officer prepares a case and documents what is ready for handoff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file creator assembles the file package and logs custody movement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registry or records user updates life-certificate or document detail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Review and Decision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An assessor validates benefits calculations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An auditor checks evidence and control completeness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An approver gives final decision or returns the case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OC/Pension resolves bottlenecks, queues, and high-impact exceptions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An administrator removes access blockers and protects continuity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Core Use Cases: Service, Governance, and Public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platform also supports service delivery beyond internal line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Service and Governance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Support staff resolve login, access, and session issues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Payroll and finance staff upload payroll, suspensions, and gratuity schedules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Message users coordinate follow-up across roles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Feedback managers assign, resolve, and export submissions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General users review status, registry, claims, and guidance 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Pensioner and Public Use Cases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pensioner checks dashboard status and benefits summary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pensioner reviews compliance and claim visibility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pensioner updates allowed profile fields and lookup consent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A pensioner searches the consent-based directory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Public users read guidance pages or submit service feedback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Troubleshooting and Escalation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A shared first-response model reduces panic and misdiagnosis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06070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login fails, check credentials, lockout, maintenance mode, pensioner portal status, and account linkage before escalating.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an action is missing or denied, confirm the current role, effective role, and permission scope before assuming the feature is broken.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numbers look wrong, refresh the page, verify filters and date scope, and then confirm in the source module.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a record appears deleted, check the delete queue or recycle bin before assuming permanent loss.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an upload or import fails, review template structure, period selection, review exports, and page-specific permissions first.</a:t>
            </a:r>
          </a:p>
          <a:p>
            <a:pPr>
              <a:spcAft>
                <a:spcPts val="1000"/>
              </a:spcAft>
              <a:defRPr sz="1450">
                <a:solidFill>
                  <a:srgbClr val="222222"/>
                </a:solidFill>
              </a:defRPr>
            </a:pPr>
            <a:r>
              <a:t>If a technical or system-health issue remains, escalate with the exact page, action, timestamp, and visible evidence.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Training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Training Artefacts and Reference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The platform already has a documentation set that should be used during onboarding and refresher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Core Reference 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System Documentation for current-state platform scope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User and Admin Manual for shared operational practice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Role manual suite for 12 maintained roles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Full ERD and domain ERD packs for data understanding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DFD pack with 3 current process diagrams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783080"/>
            <a:ext cx="53035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2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938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D1116"/>
                </a:solidFill>
              </a:defRPr>
            </a:pPr>
            <a:r>
              <a:t>Recommended Training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233172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Start with this overview deck for shared context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Move to the relevant role manual for role-specific detail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Run guided walkthroughs in the live or training environment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Use real use cases to practise escalation and handoff</a:t>
            </a:r>
          </a:p>
          <a:p>
            <a:pPr>
              <a:spcAft>
                <a:spcPts val="1000"/>
              </a:spcAft>
              <a:defRPr sz="1400">
                <a:solidFill>
                  <a:srgbClr val="222222"/>
                </a:solidFill>
              </a:defRPr>
            </a:pPr>
            <a:r>
              <a:t>Keep docs, version markers, and procedures aligned after changes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6D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7315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91440"/>
            <a:ext cx="7680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47104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UPS PensionsGo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41248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6D1116"/>
                </a:solidFill>
              </a:defRPr>
            </a:pPr>
            <a:r>
              <a:t>Closing Guidance and Discussion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447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6767"/>
                </a:solidFill>
              </a:defRPr>
            </a:pPr>
            <a:r>
              <a:t>How to use this training effectively after the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Train by role and scenario, not by showing every page to every user.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Use supervised walk-throughs for high-risk flows such as delete requests, payroll uploads, claims posting, and backup or cleanup operations.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Encourage early escalation whenever role ownership, data state, or system behavior is unclear.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Keep the documentation suite and training deck in the rebuild pipeline so training stays current with the live app.</a:t>
            </a:r>
          </a:p>
          <a:p>
            <a:pPr>
              <a:spcAft>
                <a:spcPts val="1000"/>
              </a:spcAft>
              <a:defRPr sz="1520">
                <a:solidFill>
                  <a:srgbClr val="222222"/>
                </a:solidFill>
              </a:defRPr>
            </a:pPr>
            <a:r>
              <a:t>Discussion prompts: which stakeholder groups need hands-on labs next, which workflows need deeper rehearsal, and which support issues recur most often?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